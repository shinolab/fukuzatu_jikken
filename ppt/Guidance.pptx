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6" r:id="rId1"/>
  </p:sldMasterIdLst>
  <p:notesMasterIdLst>
    <p:notesMasterId r:id="rId8"/>
  </p:notesMasterIdLst>
  <p:handoutMasterIdLst>
    <p:handoutMasterId r:id="rId9"/>
  </p:handoutMasterIdLst>
  <p:sldIdLst>
    <p:sldId id="408" r:id="rId2"/>
    <p:sldId id="522" r:id="rId3"/>
    <p:sldId id="527" r:id="rId4"/>
    <p:sldId id="529" r:id="rId5"/>
    <p:sldId id="412" r:id="rId6"/>
    <p:sldId id="528" r:id="rId7"/>
  </p:sldIdLst>
  <p:sldSz cx="12192000" cy="6858000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888888"/>
    <a:srgbClr val="0000FF"/>
    <a:srgbClr val="E6E6E6"/>
    <a:srgbClr val="1D2088"/>
    <a:srgbClr val="02CA02"/>
    <a:srgbClr val="2E86DB"/>
    <a:srgbClr val="FFFFFF"/>
    <a:srgbClr val="FFA91D"/>
    <a:srgbClr val="FFC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5" autoAdjust="0"/>
    <p:restoredTop sz="94660"/>
  </p:normalViewPr>
  <p:slideViewPr>
    <p:cSldViewPr>
      <p:cViewPr varScale="1">
        <p:scale>
          <a:sx n="142" d="100"/>
          <a:sy n="142" d="100"/>
        </p:scale>
        <p:origin x="50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1297" y="4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/>
          <a:lstStyle>
            <a:lvl1pPr algn="r">
              <a:defRPr sz="1300"/>
            </a:lvl1pPr>
          </a:lstStyle>
          <a:p>
            <a:fld id="{915868A9-8120-4894-8173-1ED591CF8D15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721110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1297" y="9721110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 anchor="b"/>
          <a:lstStyle>
            <a:lvl1pPr algn="r">
              <a:defRPr sz="1300"/>
            </a:lvl1pPr>
          </a:lstStyle>
          <a:p>
            <a:fld id="{90C0EB58-1E5F-4603-9D6B-F4A3F3233D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582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/>
          <a:lstStyle>
            <a:lvl1pPr algn="l">
              <a:defRPr sz="1300"/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297" y="4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/>
          <a:lstStyle>
            <a:lvl1pPr algn="r">
              <a:defRPr sz="1300"/>
            </a:lvl1pPr>
          </a:lstStyle>
          <a:p>
            <a:pPr>
              <a:defRPr/>
            </a:pPr>
            <a:fld id="{491F32A4-27E3-4BF4-ACF2-94E61A3B20D2}" type="datetimeFigureOut">
              <a:rPr lang="ja-JP" altLang="en-US"/>
              <a:pPr>
                <a:defRPr/>
              </a:pPr>
              <a:t>2023/4/7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14" tIns="47357" rIns="94714" bIns="47357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5"/>
            <a:ext cx="5679440" cy="4605575"/>
          </a:xfrm>
          <a:prstGeom prst="rect">
            <a:avLst/>
          </a:prstGeom>
        </p:spPr>
        <p:txBody>
          <a:bodyPr vert="horz" lIns="94714" tIns="47357" rIns="94714" bIns="47357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297" y="9721110"/>
            <a:ext cx="3076363" cy="511730"/>
          </a:xfrm>
          <a:prstGeom prst="rect">
            <a:avLst/>
          </a:prstGeom>
        </p:spPr>
        <p:txBody>
          <a:bodyPr vert="horz" lIns="94714" tIns="47357" rIns="94714" bIns="47357" rtlCol="0" anchor="b"/>
          <a:lstStyle>
            <a:lvl1pPr algn="r">
              <a:defRPr sz="1300"/>
            </a:lvl1pPr>
          </a:lstStyle>
          <a:p>
            <a:pPr>
              <a:defRPr/>
            </a:pPr>
            <a:fld id="{89E667C3-FB67-45CE-AA47-4CA2E2FCDD39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61095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152400" y="773113"/>
            <a:ext cx="6859588" cy="3859212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E667C3-FB67-45CE-AA47-4CA2E2FCDD39}" type="slidenum">
              <a:rPr lang="ja-JP" altLang="en-US" smtClean="0"/>
              <a:pPr>
                <a:defRPr/>
              </a:pPr>
              <a:t>0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346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926954C-BA09-4CAA-9F5A-4302535E5C53}"/>
              </a:ext>
            </a:extLst>
          </p:cNvPr>
          <p:cNvSpPr/>
          <p:nvPr/>
        </p:nvSpPr>
        <p:spPr>
          <a:xfrm>
            <a:off x="0" y="4148582"/>
            <a:ext cx="12192000" cy="2709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1DE71DE-F372-4BB8-B8C3-FBC9D67FC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29" y="1031515"/>
            <a:ext cx="11508828" cy="2774731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790B92-34B8-4C4E-AD10-47DC8D907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329" y="4445877"/>
            <a:ext cx="11508828" cy="21215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66758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CA232FB-5FA4-4C9F-A550-F310FACFFF4F}"/>
              </a:ext>
            </a:extLst>
          </p:cNvPr>
          <p:cNvSpPr/>
          <p:nvPr/>
        </p:nvSpPr>
        <p:spPr>
          <a:xfrm>
            <a:off x="0" y="0"/>
            <a:ext cx="12192000" cy="149547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B0FB321-71B9-489A-ABC8-515E2057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493"/>
            <a:ext cx="10515600" cy="9424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4DF69E-E48A-43B6-ABAA-C5AA4F5EE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965"/>
            <a:ext cx="10515600" cy="48095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1871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21DA1-EF66-43D9-8CFB-A32A76E7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A62EA4-EB99-465E-BE66-13A05D22F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A219C6-1BB7-4F19-9E06-5A8BE027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127999-3A6D-41FD-813F-9B1F47D05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4344B0-D037-41B7-85FC-B0A5B4A4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3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F1625-B5B0-449C-916D-8F44FC02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504265-CB06-4079-999F-1FDB37ED1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A4DCC3-05A7-4F0B-9CFC-4BFC7A2E2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D3CE5B-ED00-41DA-ABFD-8CAA07C7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CF0D75-CBFF-4A22-931D-DF874D22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C161D0-02EF-4FE0-8A5F-9D33BB19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77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D6B572-125E-48D0-85DC-1E88FD3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BE4E4A-51B7-42A9-AB66-9DA23F39E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3632BE-2BCB-403F-96B2-746097429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938FD62-E0E7-4DCE-9D5C-C1329BC1F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AE29594-3F2C-4979-92D8-A87CE4BE3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555668-5B11-4601-A457-6C6033EA90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FCD9C6-664E-4EE4-81BF-A7B29B6D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D0A075-11A7-4CD5-A992-B357999A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869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78A4D-F8BF-4268-965F-E7E87DBA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11EFE8-D103-47F8-91DD-A3D29DB8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5281D6A-FC2A-45A0-B429-62FFA2AF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13135D-5EDF-4714-94AA-C808F0D2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21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8FE146B-DEF6-4F40-BDE3-E287E5E6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6335555-83BC-42D0-B256-E635B9A4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D883DB-543A-4877-9524-EDE3AF90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829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E35200-0C6F-4233-A65A-3A7026CAB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35B6D0-FB8B-4F2D-BF08-AD777BF06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FD2460-4199-4543-ADA2-AA3D77039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BD990F-8941-46F2-B118-6C828F10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ED243F2-216B-4AD7-A2D5-BD85695EDAE9}" type="datetime1">
              <a:rPr lang="ja-JP" altLang="en-US" smtClean="0"/>
              <a:t>2023/4/7</a:t>
            </a:fld>
            <a:endParaRPr lang="ja-JP" alt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C8E8D8-A8E7-48A7-AE11-810CA30B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CCFE48-FFA0-4FBE-886D-7727C544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DF9B897-420B-48C4-AA74-363A4431EB51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41497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2DEFA-CA0E-400C-A4A1-32DB7C73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3F4D38-A747-437D-93C4-4D021E06F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0F5083-D69A-4EA4-B1BF-97826BA6A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D7F228-8053-40CC-8931-44E478CA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76CFC6F-14F6-4335-9DA4-5814777D2FCA}" type="datetime1">
              <a:rPr lang="ja-JP" altLang="en-US" smtClean="0"/>
              <a:t>2023/4/7</a:t>
            </a:fld>
            <a:endParaRPr lang="ja-JP" alt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060690-D779-42A6-A315-752120E6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9E3205-6071-45D7-9556-48DC58F9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8A63302-412A-4B1C-A33E-B81840809D73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672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17170C-E069-479F-B404-99592C85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578813-F236-4B5A-BC77-F463D96D4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8A362E-A215-43AC-8ED6-2E5BA3AF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BF223D8-DFD9-4ADB-A816-1B426A864A72}" type="datetime1">
              <a:rPr lang="ja-JP" altLang="en-US" smtClean="0"/>
              <a:t>2023/4/7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4617CD-C67B-4591-A69F-668A017E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6706E-7777-4A57-871B-A75D698C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D1DC6B2-FEE1-4A62-B682-A8E7B37630D9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661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992E058-BA2B-46CD-84C5-BEB00168F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E0A6A5-8868-438C-9CD6-274E32454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077DB4-5894-458F-AB52-6D5E541B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6EE9211-EDE4-4CB7-B81D-A8F0C031DBA5}" type="datetime1">
              <a:rPr lang="ja-JP" altLang="en-US" smtClean="0"/>
              <a:t>2023/4/7</a:t>
            </a:fld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E187B-F777-4380-9B81-9BE5DE67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5FB48-DE13-4CAD-9643-696E377A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EA788D2-775C-4D3E-A72F-6AED175B0086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5088761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751D0C7-DC0B-4463-A87E-1AAE734EB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640B67-89C2-4770-8A31-87CD00BBD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537F7F-EF40-4D61-AF24-79C532E46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21F41-3008-4A78-A714-E6C704D3FB22}" type="datetimeFigureOut">
              <a:rPr kumimoji="1" lang="ja-JP" altLang="en-US" smtClean="0"/>
              <a:t>2023/4/7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AE3A63-B922-4B08-9356-5E51FDEA2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7FF21-561C-4851-A6CB-8C583070A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5DC3F-8960-4899-9C9F-203F71A277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16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4D4D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4D4D4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wav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image" Target="../media/image5.png"/><Relationship Id="rId5" Type="http://schemas.microsoft.com/office/2007/relationships/media" Target="../media/media3.wav"/><Relationship Id="rId10" Type="http://schemas.openxmlformats.org/officeDocument/2006/relationships/image" Target="../media/image4.png"/><Relationship Id="rId4" Type="http://schemas.openxmlformats.org/officeDocument/2006/relationships/audio" Target="../media/media2.wav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7.wav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1.png"/><Relationship Id="rId3" Type="http://schemas.microsoft.com/office/2007/relationships/media" Target="../media/media5.wav"/><Relationship Id="rId7" Type="http://schemas.microsoft.com/office/2007/relationships/media" Target="../media/media7.wav"/><Relationship Id="rId12" Type="http://schemas.openxmlformats.org/officeDocument/2006/relationships/audio" Target="../media/media9.wav"/><Relationship Id="rId17" Type="http://schemas.openxmlformats.org/officeDocument/2006/relationships/image" Target="../media/image10.png"/><Relationship Id="rId2" Type="http://schemas.openxmlformats.org/officeDocument/2006/relationships/audio" Target="../media/media4.wav"/><Relationship Id="rId16" Type="http://schemas.openxmlformats.org/officeDocument/2006/relationships/image" Target="../media/image9.png"/><Relationship Id="rId1" Type="http://schemas.microsoft.com/office/2007/relationships/media" Target="../media/media4.wav"/><Relationship Id="rId6" Type="http://schemas.openxmlformats.org/officeDocument/2006/relationships/audio" Target="../media/media6.wav"/><Relationship Id="rId11" Type="http://schemas.microsoft.com/office/2007/relationships/media" Target="../media/media9.wav"/><Relationship Id="rId5" Type="http://schemas.microsoft.com/office/2007/relationships/media" Target="../media/media6.wav"/><Relationship Id="rId15" Type="http://schemas.openxmlformats.org/officeDocument/2006/relationships/image" Target="../media/image8.png"/><Relationship Id="rId10" Type="http://schemas.openxmlformats.org/officeDocument/2006/relationships/audio" Target="../media/media8.wav"/><Relationship Id="rId19" Type="http://schemas.openxmlformats.org/officeDocument/2006/relationships/image" Target="../media/image6.png"/><Relationship Id="rId4" Type="http://schemas.openxmlformats.org/officeDocument/2006/relationships/audio" Target="../media/media5.wav"/><Relationship Id="rId9" Type="http://schemas.microsoft.com/office/2007/relationships/media" Target="../media/media8.wav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9B21C-FEFC-564D-1DF9-986C8C3EB1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複雑理工学実験概論</a:t>
            </a:r>
            <a:r>
              <a:rPr lang="en-US" altLang="ja-JP" dirty="0"/>
              <a:t>2023 </a:t>
            </a:r>
            <a:r>
              <a:rPr lang="ja-JP" altLang="en-US" dirty="0"/>
              <a:t>ガイダンス</a:t>
            </a:r>
            <a:br>
              <a:rPr lang="ja-JP" altLang="en-US" dirty="0"/>
            </a:br>
            <a:r>
              <a:rPr lang="ja-JP" altLang="en-US" dirty="0"/>
              <a:t>計測コース 生体計測</a:t>
            </a:r>
            <a:r>
              <a:rPr lang="en-US" altLang="ja-JP" dirty="0"/>
              <a:t>G (</a:t>
            </a:r>
            <a:r>
              <a:rPr lang="ja-JP" altLang="en-US" dirty="0"/>
              <a:t>篠田・牧野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ja-JP" altLang="en-US" sz="2800" dirty="0"/>
              <a:t>特任助教　鈴木 颯</a:t>
            </a:r>
            <a:endParaRPr lang="en-US" altLang="ja-JP" sz="2800" dirty="0"/>
          </a:p>
          <a:p>
            <a:pPr>
              <a:defRPr/>
            </a:pPr>
            <a:r>
              <a:rPr lang="ja-JP" altLang="en-US" dirty="0"/>
              <a:t>篠田・牧野研究室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5122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9C5B1-89D1-401A-A8F6-B1E67B78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584D8C-0DAD-417E-8FFA-277E5B5C2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ja-JP" altLang="en-US" dirty="0"/>
              <a:t>「ディジタル信号処理」の基礎を学習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 dirty="0"/>
              <a:t>一例として音声・音響信号を対象にする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 dirty="0"/>
              <a:t>信号の</a:t>
            </a:r>
            <a:r>
              <a:rPr lang="ja-JP" altLang="en-US" dirty="0">
                <a:solidFill>
                  <a:srgbClr val="C00000"/>
                </a:solidFill>
              </a:rPr>
              <a:t>周波数特性</a:t>
            </a:r>
            <a:r>
              <a:rPr lang="ja-JP" altLang="en-US" dirty="0"/>
              <a:t>を利用して情報を抽出する</a:t>
            </a:r>
            <a:endParaRPr lang="en-US" altLang="ja-JP" dirty="0"/>
          </a:p>
          <a:p>
            <a:pPr lvl="2"/>
            <a:r>
              <a:rPr lang="en-US" altLang="ja-JP" dirty="0"/>
              <a:t>FIR</a:t>
            </a:r>
            <a:r>
              <a:rPr lang="ja-JP" altLang="en-US" dirty="0"/>
              <a:t>フィルタの設計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 dirty="0"/>
              <a:t>信号の</a:t>
            </a:r>
            <a:r>
              <a:rPr lang="ja-JP" altLang="en-US" dirty="0">
                <a:solidFill>
                  <a:srgbClr val="C00000"/>
                </a:solidFill>
              </a:rPr>
              <a:t>統計的情報</a:t>
            </a:r>
            <a:r>
              <a:rPr lang="ja-JP" altLang="en-US" dirty="0"/>
              <a:t>を利用して情報を抽出する</a:t>
            </a:r>
            <a:endParaRPr lang="en-US" altLang="ja-JP" dirty="0"/>
          </a:p>
          <a:p>
            <a:pPr lvl="2"/>
            <a:r>
              <a:rPr lang="ja-JP" altLang="en-US" dirty="0"/>
              <a:t>独立成分分析によるブラインド音源分離</a:t>
            </a: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pPr marL="914400" lvl="2" indent="0">
              <a:buNone/>
            </a:pPr>
            <a:endParaRPr lang="en-US" altLang="ja-JP" dirty="0"/>
          </a:p>
          <a:p>
            <a:r>
              <a:rPr lang="ja-JP" altLang="en-US" dirty="0">
                <a:solidFill>
                  <a:srgbClr val="C00000"/>
                </a:solidFill>
              </a:rPr>
              <a:t>実際のプログラムを通して</a:t>
            </a:r>
            <a:r>
              <a:rPr lang="ja-JP" altLang="en-US" dirty="0"/>
              <a:t>知識を身につける</a:t>
            </a:r>
            <a:endParaRPr lang="en-US" altLang="ja-JP" dirty="0"/>
          </a:p>
          <a:p>
            <a:pPr lvl="1"/>
            <a:r>
              <a:rPr lang="en-US" altLang="ja-JP" dirty="0"/>
              <a:t>Google </a:t>
            </a:r>
            <a:r>
              <a:rPr lang="en-US" altLang="ja-JP" dirty="0" err="1"/>
              <a:t>Colaboratory</a:t>
            </a:r>
            <a:r>
              <a:rPr lang="ja-JP" altLang="en-US" dirty="0"/>
              <a:t>上の</a:t>
            </a:r>
            <a:r>
              <a:rPr lang="en-US" altLang="ja-JP" dirty="0"/>
              <a:t>Python</a:t>
            </a:r>
            <a:r>
              <a:rPr lang="ja-JP" altLang="en-US" dirty="0"/>
              <a:t>を使用</a:t>
            </a:r>
            <a:endParaRPr lang="en-US" altLang="ja-JP" dirty="0"/>
          </a:p>
          <a:p>
            <a:pPr lvl="1"/>
            <a:r>
              <a:rPr lang="ja-JP" altLang="en-US" dirty="0"/>
              <a:t>ブラウザと</a:t>
            </a:r>
            <a:r>
              <a:rPr lang="en-US" altLang="ja-JP" dirty="0"/>
              <a:t>Google</a:t>
            </a:r>
            <a:r>
              <a:rPr lang="ja-JP" altLang="en-US" dirty="0"/>
              <a:t>アカウントが必要</a:t>
            </a:r>
            <a:endParaRPr lang="en-US" altLang="ja-JP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CB173BB-42A7-4490-A4DE-B92025D811AA}"/>
              </a:ext>
            </a:extLst>
          </p:cNvPr>
          <p:cNvGrpSpPr/>
          <p:nvPr/>
        </p:nvGrpSpPr>
        <p:grpSpPr>
          <a:xfrm>
            <a:off x="7968208" y="1762837"/>
            <a:ext cx="3886994" cy="3100476"/>
            <a:chOff x="7176120" y="1988840"/>
            <a:chExt cx="4895106" cy="3748548"/>
          </a:xfrm>
        </p:grpSpPr>
        <p:pic>
          <p:nvPicPr>
            <p:cNvPr id="1026" name="Picture 2" descr="ã®ã¿ã¼æ²For Twoã®é³é¿ä¿¡å·ã®ã¹ãã¯ãã­ã°ã©ã ï¼æ¬¡åè¡¨ç¤º(ä¸é¨)">
              <a:extLst>
                <a:ext uri="{FF2B5EF4-FFF2-40B4-BE49-F238E27FC236}">
                  <a16:creationId xmlns:a16="http://schemas.microsoft.com/office/drawing/2014/main" id="{2C3019F4-3B72-4A9C-B585-98D125AFE8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36"/>
            <a:stretch/>
          </p:blipFill>
          <p:spPr bwMode="auto">
            <a:xfrm>
              <a:off x="7176120" y="1988840"/>
              <a:ext cx="4895106" cy="37485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C4B43E31-1A2B-4455-8A02-0B8E35BCC925}"/>
                </a:ext>
              </a:extLst>
            </p:cNvPr>
            <p:cNvSpPr txBox="1"/>
            <p:nvPr/>
          </p:nvSpPr>
          <p:spPr>
            <a:xfrm rot="2633082">
              <a:off x="7256522" y="4547980"/>
              <a:ext cx="114646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0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Frequency (Hz)</a:t>
              </a:r>
              <a:endPara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4D38C2C-A9CB-4496-99D5-7B3E761BE02A}"/>
                </a:ext>
              </a:extLst>
            </p:cNvPr>
            <p:cNvSpPr txBox="1"/>
            <p:nvPr/>
          </p:nvSpPr>
          <p:spPr>
            <a:xfrm rot="20308548">
              <a:off x="10218096" y="5034081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ja-JP" sz="10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Time (</a:t>
              </a:r>
              <a:r>
                <a:rPr kumimoji="1" lang="en-US" altLang="ja-JP" sz="1000" dirty="0" err="1"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kumimoji="1" lang="en-US" altLang="ja-JP" sz="100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)</a:t>
              </a:r>
              <a:endPara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41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9FFE498-89D7-4410-8683-4EDD50F755E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1941" t="14300" r="7249" b="64663"/>
          <a:stretch/>
        </p:blipFill>
        <p:spPr>
          <a:xfrm>
            <a:off x="797875" y="2891337"/>
            <a:ext cx="2819298" cy="216024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15F4C85-3F24-489E-BB68-6F0A5C69C68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179" t="41419" r="7011" b="37544"/>
          <a:stretch/>
        </p:blipFill>
        <p:spPr>
          <a:xfrm>
            <a:off x="4542291" y="2841459"/>
            <a:ext cx="2819298" cy="2160240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2EA0C081-C0C7-40E5-9BB1-F837BAFCD48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655" t="68942" r="6535" b="10021"/>
          <a:stretch/>
        </p:blipFill>
        <p:spPr>
          <a:xfrm>
            <a:off x="8286707" y="2849772"/>
            <a:ext cx="2819298" cy="216024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E6D4407-6974-4C81-8C28-C3593EA7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何ができるようになるか </a:t>
            </a:r>
            <a:r>
              <a:rPr lang="en-US" altLang="ja-JP" dirty="0"/>
              <a:t>(1)</a:t>
            </a:r>
            <a:endParaRPr kumimoji="1" lang="ja-JP" altLang="en-US" dirty="0"/>
          </a:p>
        </p:txBody>
      </p:sp>
      <p:sp>
        <p:nvSpPr>
          <p:cNvPr id="22" name="コンテンツ プレースホルダー 21">
            <a:extLst>
              <a:ext uri="{FF2B5EF4-FFF2-40B4-BE49-F238E27FC236}">
                <a16:creationId xmlns:a16="http://schemas.microsoft.com/office/drawing/2014/main" id="{B8BD4903-0E28-4140-BCCC-C81C61924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例：ディジタルフィルタによるノイズ除去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04C4DAC-CAE1-40E8-9811-F346FD7DAD43}"/>
              </a:ext>
            </a:extLst>
          </p:cNvPr>
          <p:cNvSpPr txBox="1"/>
          <p:nvPr/>
        </p:nvSpPr>
        <p:spPr>
          <a:xfrm>
            <a:off x="1624223" y="236304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元音源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859F9442-0C22-4821-9827-0B8CF16FD417}"/>
              </a:ext>
            </a:extLst>
          </p:cNvPr>
          <p:cNvSpPr/>
          <p:nvPr/>
        </p:nvSpPr>
        <p:spPr>
          <a:xfrm>
            <a:off x="7638635" y="3400897"/>
            <a:ext cx="424782" cy="1008112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2F67A5-8140-4DD7-AECF-DC17A889CF08}"/>
              </a:ext>
            </a:extLst>
          </p:cNvPr>
          <p:cNvSpPr txBox="1"/>
          <p:nvPr/>
        </p:nvSpPr>
        <p:spPr>
          <a:xfrm>
            <a:off x="7405230" y="4498326"/>
            <a:ext cx="8915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フィルタ</a:t>
            </a:r>
            <a:endParaRPr lang="en-US" altLang="ja-JP" sz="20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20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適用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FF148D-D72F-44B4-8B04-B2D8E004D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42482">
            <a:off x="5077032" y="5897775"/>
            <a:ext cx="664135" cy="844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EA630C-B544-4662-BB1A-A71D427D9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26532">
            <a:off x="5852632" y="5363803"/>
            <a:ext cx="685558" cy="85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17D647B-073B-44F8-B293-7CF3C2CE7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860" y="4954908"/>
            <a:ext cx="1911795" cy="166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64EF0F-F1F8-4FEA-99FF-80DE3EA13CD7}"/>
              </a:ext>
            </a:extLst>
          </p:cNvPr>
          <p:cNvSpPr txBox="1"/>
          <p:nvPr/>
        </p:nvSpPr>
        <p:spPr>
          <a:xfrm>
            <a:off x="4792575" y="2363044"/>
            <a:ext cx="23407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元音源</a:t>
            </a:r>
            <a:r>
              <a:rPr kumimoji="1" lang="en-US" altLang="ja-JP" sz="28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+</a:t>
            </a:r>
            <a:r>
              <a:rPr kumimoji="1" lang="ja-JP" altLang="en-US" sz="28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ノイズ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83305F3-109A-41D5-9211-5A56C81D03A3}"/>
              </a:ext>
            </a:extLst>
          </p:cNvPr>
          <p:cNvSpPr txBox="1"/>
          <p:nvPr/>
        </p:nvSpPr>
        <p:spPr>
          <a:xfrm>
            <a:off x="8608999" y="2363044"/>
            <a:ext cx="2052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8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ノイズ除去後</a:t>
            </a:r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B812F451-2254-4041-8039-AF853BCEA340}"/>
              </a:ext>
            </a:extLst>
          </p:cNvPr>
          <p:cNvSpPr/>
          <p:nvPr/>
        </p:nvSpPr>
        <p:spPr>
          <a:xfrm>
            <a:off x="3894219" y="3400897"/>
            <a:ext cx="424782" cy="1008112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矢印: 上向き折線 22">
            <a:extLst>
              <a:ext uri="{FF2B5EF4-FFF2-40B4-BE49-F238E27FC236}">
                <a16:creationId xmlns:a16="http://schemas.microsoft.com/office/drawing/2014/main" id="{242FFF0F-4CF5-4BD4-8AD8-9F5EA21F8D15}"/>
              </a:ext>
            </a:extLst>
          </p:cNvPr>
          <p:cNvSpPr/>
          <p:nvPr/>
        </p:nvSpPr>
        <p:spPr>
          <a:xfrm flipH="1">
            <a:off x="3750203" y="4433948"/>
            <a:ext cx="1152128" cy="1584176"/>
          </a:xfrm>
          <a:prstGeom prst="bentUpArrow">
            <a:avLst>
              <a:gd name="adj1" fmla="val 15480"/>
              <a:gd name="adj2" fmla="val 25000"/>
              <a:gd name="adj3" fmla="val 26624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FE02DB5-A227-420A-8289-1E93E7068FC0}"/>
              </a:ext>
            </a:extLst>
          </p:cNvPr>
          <p:cNvSpPr txBox="1"/>
          <p:nvPr/>
        </p:nvSpPr>
        <p:spPr>
          <a:xfrm>
            <a:off x="4326267" y="5370052"/>
            <a:ext cx="750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ノイズ</a:t>
            </a:r>
          </a:p>
        </p:txBody>
      </p:sp>
      <p:pic>
        <p:nvPicPr>
          <p:cNvPr id="4" name="Hallelujah">
            <a:hlinkClick r:id="" action="ppaction://media"/>
            <a:extLst>
              <a:ext uri="{FF2B5EF4-FFF2-40B4-BE49-F238E27FC236}">
                <a16:creationId xmlns:a16="http://schemas.microsoft.com/office/drawing/2014/main" id="{50275961-A430-AEC4-D406-E212F352E5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28086" y="4400412"/>
            <a:ext cx="609600" cy="609600"/>
          </a:xfrm>
          <a:prstGeom prst="rect">
            <a:avLst/>
          </a:prstGeom>
        </p:spPr>
      </p:pic>
      <p:pic>
        <p:nvPicPr>
          <p:cNvPr id="5" name="noise">
            <a:hlinkClick r:id="" action="ppaction://media"/>
            <a:extLst>
              <a:ext uri="{FF2B5EF4-FFF2-40B4-BE49-F238E27FC236}">
                <a16:creationId xmlns:a16="http://schemas.microsoft.com/office/drawing/2014/main" id="{8B35E41A-8A74-20E8-11E9-EE2137F6F41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654257" y="4383251"/>
            <a:ext cx="609600" cy="609600"/>
          </a:xfrm>
          <a:prstGeom prst="rect">
            <a:avLst/>
          </a:prstGeom>
        </p:spPr>
      </p:pic>
      <p:pic>
        <p:nvPicPr>
          <p:cNvPr id="8" name="filtered">
            <a:hlinkClick r:id="" action="ppaction://media"/>
            <a:extLst>
              <a:ext uri="{FF2B5EF4-FFF2-40B4-BE49-F238E27FC236}">
                <a16:creationId xmlns:a16="http://schemas.microsoft.com/office/drawing/2014/main" id="{2EFB1367-C5CC-DB29-82F7-330F8B8EB6E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459203" y="439683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B15DD205-265E-4F3B-A600-5EA92D0E883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796" t="13724" r="7400" b="53334"/>
          <a:stretch/>
        </p:blipFill>
        <p:spPr>
          <a:xfrm>
            <a:off x="8969846" y="4869160"/>
            <a:ext cx="1992765" cy="1787123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C809BDBA-3369-424C-8A83-C6263F6461F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796" t="57123" r="7400" b="9935"/>
          <a:stretch/>
        </p:blipFill>
        <p:spPr>
          <a:xfrm>
            <a:off x="8969846" y="2852936"/>
            <a:ext cx="1992765" cy="178712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F810857-540E-4DBB-9A46-BC755D88D0B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632" t="13726" r="5516" b="53102"/>
          <a:stretch/>
        </p:blipFill>
        <p:spPr>
          <a:xfrm>
            <a:off x="5115322" y="2843971"/>
            <a:ext cx="2043905" cy="1806931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FB0356DA-546B-46EA-873B-A222FA53924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650" t="56926" r="5498" b="9902"/>
          <a:stretch/>
        </p:blipFill>
        <p:spPr>
          <a:xfrm>
            <a:off x="5115322" y="4851230"/>
            <a:ext cx="2043905" cy="180693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8B2E0FB-6DF6-462F-A5B8-19874344D44C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365" t="14425" r="8840" b="52849"/>
          <a:stretch/>
        </p:blipFill>
        <p:spPr>
          <a:xfrm>
            <a:off x="1258971" y="4887090"/>
            <a:ext cx="1953663" cy="1770097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AB990C1-ACC1-4CAA-86B7-C189922F6166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12850" t="57534" r="8355" b="9740"/>
          <a:stretch/>
        </p:blipFill>
        <p:spPr>
          <a:xfrm>
            <a:off x="1274211" y="2852936"/>
            <a:ext cx="1953663" cy="177009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411F4A-D4A4-43CA-AD80-E7B0D6E2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何ができるようになるか</a:t>
            </a:r>
            <a:r>
              <a:rPr lang="ja-JP" altLang="en-US" dirty="0"/>
              <a:t> </a:t>
            </a:r>
            <a:r>
              <a:rPr lang="en-US" altLang="ja-JP" dirty="0"/>
              <a:t>(2)</a:t>
            </a:r>
            <a:endParaRPr kumimoji="1" lang="ja-JP" altLang="en-US" dirty="0"/>
          </a:p>
        </p:txBody>
      </p:sp>
      <p:sp>
        <p:nvSpPr>
          <p:cNvPr id="78" name="コンテンツ プレースホルダー 77">
            <a:extLst>
              <a:ext uri="{FF2B5EF4-FFF2-40B4-BE49-F238E27FC236}">
                <a16:creationId xmlns:a16="http://schemas.microsoft.com/office/drawing/2014/main" id="{C45BD8F6-4954-DB89-B931-AE42AAFA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例：独立成分分析 </a:t>
            </a:r>
            <a:r>
              <a:rPr lang="en-US" altLang="ja-JP" dirty="0"/>
              <a:t>(ICA) </a:t>
            </a:r>
            <a:r>
              <a:rPr lang="ja-JP" altLang="en-US" dirty="0"/>
              <a:t>によるブラインド音源分離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DC515C3-9F36-4DE6-895E-BBB99851E7A4}"/>
              </a:ext>
            </a:extLst>
          </p:cNvPr>
          <p:cNvSpPr txBox="1"/>
          <p:nvPr/>
        </p:nvSpPr>
        <p:spPr>
          <a:xfrm>
            <a:off x="1643698" y="2420888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4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信号源 </a:t>
            </a:r>
            <a:endParaRPr kumimoji="1" lang="ja-JP" altLang="en-US" sz="2400" dirty="0">
              <a:solidFill>
                <a:srgbClr val="4D4D4D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54F4798-D9F4-4924-BB4E-296BB1288B6E}"/>
              </a:ext>
            </a:extLst>
          </p:cNvPr>
          <p:cNvSpPr txBox="1"/>
          <p:nvPr/>
        </p:nvSpPr>
        <p:spPr>
          <a:xfrm>
            <a:off x="5388114" y="242088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観測信号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5F4FC6AD-30B3-4C5F-9922-B03E3193C782}"/>
              </a:ext>
            </a:extLst>
          </p:cNvPr>
          <p:cNvSpPr/>
          <p:nvPr/>
        </p:nvSpPr>
        <p:spPr>
          <a:xfrm>
            <a:off x="4370075" y="3593423"/>
            <a:ext cx="352124" cy="335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34F080-E53F-48FD-B33C-F65A17374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71" y="5654687"/>
            <a:ext cx="1460084" cy="120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6892164-6146-4BCC-9116-70BE8E13B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39" y="3531476"/>
            <a:ext cx="1540616" cy="124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A8C4F442-A39F-478E-9AA0-19402FE82D71}"/>
              </a:ext>
            </a:extLst>
          </p:cNvPr>
          <p:cNvCxnSpPr/>
          <p:nvPr/>
        </p:nvCxnSpPr>
        <p:spPr>
          <a:xfrm>
            <a:off x="3515906" y="3717032"/>
            <a:ext cx="129614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012F9A5-770E-407F-BC42-C3792E8CCF2F}"/>
              </a:ext>
            </a:extLst>
          </p:cNvPr>
          <p:cNvCxnSpPr/>
          <p:nvPr/>
        </p:nvCxnSpPr>
        <p:spPr>
          <a:xfrm>
            <a:off x="3515906" y="5805264"/>
            <a:ext cx="129614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9CF5A78-7F8A-46E1-9D56-59CC89A3F487}"/>
              </a:ext>
            </a:extLst>
          </p:cNvPr>
          <p:cNvCxnSpPr>
            <a:cxnSpLocks/>
          </p:cNvCxnSpPr>
          <p:nvPr/>
        </p:nvCxnSpPr>
        <p:spPr>
          <a:xfrm flipV="1">
            <a:off x="3515906" y="3861048"/>
            <a:ext cx="1296144" cy="18722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8A62F7C4-0F42-4968-A794-B826CC1A66F7}"/>
              </a:ext>
            </a:extLst>
          </p:cNvPr>
          <p:cNvCxnSpPr>
            <a:cxnSpLocks/>
          </p:cNvCxnSpPr>
          <p:nvPr/>
        </p:nvCxnSpPr>
        <p:spPr>
          <a:xfrm>
            <a:off x="3515906" y="3789040"/>
            <a:ext cx="1296144" cy="18722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43959E0-30DE-4E8B-AE38-49730C763B55}"/>
              </a:ext>
            </a:extLst>
          </p:cNvPr>
          <p:cNvSpPr txBox="1"/>
          <p:nvPr/>
        </p:nvSpPr>
        <p:spPr>
          <a:xfrm>
            <a:off x="3803938" y="321297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混合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72FD9C7D-940A-4C5A-8005-4BD6883E580F}"/>
              </a:ext>
            </a:extLst>
          </p:cNvPr>
          <p:cNvSpPr txBox="1"/>
          <p:nvPr/>
        </p:nvSpPr>
        <p:spPr>
          <a:xfrm>
            <a:off x="7620362" y="3501008"/>
            <a:ext cx="904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3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ICA</a:t>
            </a:r>
            <a:endParaRPr kumimoji="1" lang="ja-JP" altLang="en-US" sz="3200" dirty="0">
              <a:solidFill>
                <a:srgbClr val="C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B5BAEC42-6C73-4360-985C-57622E7D11BE}"/>
              </a:ext>
            </a:extLst>
          </p:cNvPr>
          <p:cNvSpPr/>
          <p:nvPr/>
        </p:nvSpPr>
        <p:spPr>
          <a:xfrm>
            <a:off x="7670393" y="4077072"/>
            <a:ext cx="803646" cy="132108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kumimoji="1" lang="ja-JP" altLang="en-US" sz="28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0154F538-BC61-49E5-AA08-13337A6880C3}"/>
              </a:ext>
            </a:extLst>
          </p:cNvPr>
          <p:cNvSpPr txBox="1"/>
          <p:nvPr/>
        </p:nvSpPr>
        <p:spPr>
          <a:xfrm>
            <a:off x="9276546" y="242088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400" dirty="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分離信号</a:t>
            </a:r>
          </a:p>
        </p:txBody>
      </p:sp>
      <p:pic>
        <p:nvPicPr>
          <p:cNvPr id="3" name="birds">
            <a:hlinkClick r:id="" action="ppaction://media"/>
            <a:extLst>
              <a:ext uri="{FF2B5EF4-FFF2-40B4-BE49-F238E27FC236}">
                <a16:creationId xmlns:a16="http://schemas.microsoft.com/office/drawing/2014/main" id="{BC81F08D-E6D2-6C2B-3991-F3790740D7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2606650" y="4000997"/>
            <a:ext cx="609600" cy="609600"/>
          </a:xfrm>
          <a:prstGeom prst="rect">
            <a:avLst/>
          </a:prstGeom>
        </p:spPr>
      </p:pic>
      <p:pic>
        <p:nvPicPr>
          <p:cNvPr id="5" name="background">
            <a:hlinkClick r:id="" action="ppaction://media"/>
            <a:extLst>
              <a:ext uri="{FF2B5EF4-FFF2-40B4-BE49-F238E27FC236}">
                <a16:creationId xmlns:a16="http://schemas.microsoft.com/office/drawing/2014/main" id="{FE5600ED-CAE6-D031-4501-CFE0196B149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2587381" y="5971907"/>
            <a:ext cx="609600" cy="609600"/>
          </a:xfrm>
          <a:prstGeom prst="rect">
            <a:avLst/>
          </a:prstGeom>
        </p:spPr>
      </p:pic>
      <p:pic>
        <p:nvPicPr>
          <p:cNvPr id="6" name="mix1">
            <a:hlinkClick r:id="" action="ppaction://media"/>
            <a:extLst>
              <a:ext uri="{FF2B5EF4-FFF2-40B4-BE49-F238E27FC236}">
                <a16:creationId xmlns:a16="http://schemas.microsoft.com/office/drawing/2014/main" id="{7BB80CB0-FD6C-C5B5-FDE2-1534FFD25F0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6417631" y="4041302"/>
            <a:ext cx="609600" cy="609600"/>
          </a:xfrm>
          <a:prstGeom prst="rect">
            <a:avLst/>
          </a:prstGeom>
        </p:spPr>
      </p:pic>
      <p:pic>
        <p:nvPicPr>
          <p:cNvPr id="7" name="mix2">
            <a:hlinkClick r:id="" action="ppaction://media"/>
            <a:extLst>
              <a:ext uri="{FF2B5EF4-FFF2-40B4-BE49-F238E27FC236}">
                <a16:creationId xmlns:a16="http://schemas.microsoft.com/office/drawing/2014/main" id="{F6D140A7-ABAC-5A0B-4D27-5AB2EBF5B27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6419987" y="6009295"/>
            <a:ext cx="609600" cy="609600"/>
          </a:xfrm>
          <a:prstGeom prst="rect">
            <a:avLst/>
          </a:prstGeom>
        </p:spPr>
      </p:pic>
      <p:pic>
        <p:nvPicPr>
          <p:cNvPr id="9" name="estimated1">
            <a:hlinkClick r:id="" action="ppaction://media"/>
            <a:extLst>
              <a:ext uri="{FF2B5EF4-FFF2-40B4-BE49-F238E27FC236}">
                <a16:creationId xmlns:a16="http://schemas.microsoft.com/office/drawing/2014/main" id="{A0B51328-AEFE-0A92-77FB-4A60A5C524E5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0291255" y="4017401"/>
            <a:ext cx="609600" cy="609600"/>
          </a:xfrm>
          <a:prstGeom prst="rect">
            <a:avLst/>
          </a:prstGeom>
        </p:spPr>
      </p:pic>
      <p:pic>
        <p:nvPicPr>
          <p:cNvPr id="11" name="estimated2">
            <a:hlinkClick r:id="" action="ppaction://media"/>
            <a:extLst>
              <a:ext uri="{FF2B5EF4-FFF2-40B4-BE49-F238E27FC236}">
                <a16:creationId xmlns:a16="http://schemas.microsoft.com/office/drawing/2014/main" id="{9BB3372A-FC97-8CB6-BD26-FBA74EDE107F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10291255" y="604668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1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3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2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2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C93861-6E5A-4F07-A012-40577F67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どの分野にも使える手法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89FD13-0041-4F1E-995C-79057F6CF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2400" dirty="0"/>
              <a:t>信号</a:t>
            </a:r>
            <a:r>
              <a:rPr lang="en-US" altLang="ja-JP" sz="2400" dirty="0"/>
              <a:t>: </a:t>
            </a:r>
            <a:r>
              <a:rPr lang="ja-JP" altLang="en-US" sz="2400" dirty="0"/>
              <a:t>情報を伝達するために記号化、符号化したもの</a:t>
            </a:r>
            <a:br>
              <a:rPr lang="en-US" altLang="ja-JP" sz="2000" dirty="0"/>
            </a:br>
            <a:r>
              <a:rPr lang="ja-JP" altLang="en-US" sz="2400" dirty="0"/>
              <a:t>→</a:t>
            </a:r>
            <a:r>
              <a:rPr lang="en-US" altLang="ja-JP" sz="2400" dirty="0"/>
              <a:t> </a:t>
            </a:r>
            <a:r>
              <a:rPr lang="ja-JP" altLang="en-US" sz="2400" dirty="0"/>
              <a:t>「信号処理」はデータを扱うすべての領域で適用可能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74BF2F5-5830-46A3-AFA0-75F954E6D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59" y="2562284"/>
            <a:ext cx="1627229" cy="154239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93195E04-24EF-4E49-B736-C2C1E28B43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3" r="12228"/>
          <a:stretch/>
        </p:blipFill>
        <p:spPr>
          <a:xfrm>
            <a:off x="8023585" y="2562283"/>
            <a:ext cx="1750710" cy="154239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355B8CBF-25DB-405B-8721-E7D8D4DD46C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38" b="40550"/>
          <a:stretch/>
        </p:blipFill>
        <p:spPr>
          <a:xfrm>
            <a:off x="8019411" y="4907776"/>
            <a:ext cx="1750710" cy="1505802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40B959E-997C-4E34-BA50-0EC33840B7D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25" r="3363"/>
          <a:stretch/>
        </p:blipFill>
        <p:spPr>
          <a:xfrm>
            <a:off x="3098145" y="4918019"/>
            <a:ext cx="1527132" cy="1500028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865A1C6B-DC99-4A1C-956D-E79793E750D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7" r="19279"/>
          <a:stretch/>
        </p:blipFill>
        <p:spPr>
          <a:xfrm>
            <a:off x="5499241" y="4920701"/>
            <a:ext cx="1605884" cy="1509668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7804237-9FD2-4C8D-9128-0346CAB95E5F}"/>
              </a:ext>
            </a:extLst>
          </p:cNvPr>
          <p:cNvSpPr txBox="1"/>
          <p:nvPr/>
        </p:nvSpPr>
        <p:spPr>
          <a:xfrm>
            <a:off x="3144960" y="4181204"/>
            <a:ext cx="1487592" cy="3133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画像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A8FB1B2-F6BC-4356-B951-A4334DBA6378}"/>
              </a:ext>
            </a:extLst>
          </p:cNvPr>
          <p:cNvSpPr txBox="1"/>
          <p:nvPr/>
        </p:nvSpPr>
        <p:spPr>
          <a:xfrm>
            <a:off x="5556999" y="4181204"/>
            <a:ext cx="1565408" cy="3133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脳活動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6E8438B-6019-4072-B1ED-DE093C4C5279}"/>
              </a:ext>
            </a:extLst>
          </p:cNvPr>
          <p:cNvSpPr txBox="1"/>
          <p:nvPr/>
        </p:nvSpPr>
        <p:spPr>
          <a:xfrm>
            <a:off x="8086956" y="4181204"/>
            <a:ext cx="1687338" cy="59034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核融合炉の内部状態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B15FCE59-4612-401E-A48E-31C979E1366F}"/>
              </a:ext>
            </a:extLst>
          </p:cNvPr>
          <p:cNvSpPr txBox="1"/>
          <p:nvPr/>
        </p:nvSpPr>
        <p:spPr>
          <a:xfrm>
            <a:off x="3147068" y="6496260"/>
            <a:ext cx="1469113" cy="3133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音声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7FB8E0F-13FF-47C0-9186-721BD011237B}"/>
              </a:ext>
            </a:extLst>
          </p:cNvPr>
          <p:cNvSpPr txBox="1"/>
          <p:nvPr/>
        </p:nvSpPr>
        <p:spPr>
          <a:xfrm>
            <a:off x="5548814" y="6496260"/>
            <a:ext cx="1565408" cy="3133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触覚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11F588D-9C7E-4476-A0C2-CA9D6A79F0B1}"/>
              </a:ext>
            </a:extLst>
          </p:cNvPr>
          <p:cNvSpPr txBox="1"/>
          <p:nvPr/>
        </p:nvSpPr>
        <p:spPr>
          <a:xfrm>
            <a:off x="7945883" y="6492944"/>
            <a:ext cx="1824238" cy="3133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txBody>
          <a:bodyPr wrap="square" tIns="36000" bIns="0" rtlCol="0">
            <a:spAutoFit/>
          </a:bodyPr>
          <a:lstStyle/>
          <a:p>
            <a:pPr lvl="0" algn="ctr" eaLnBrk="0" hangingPunct="0">
              <a:spcBef>
                <a:spcPct val="20000"/>
              </a:spcBef>
            </a:pPr>
            <a:r>
              <a:rPr lang="ja-JP" altLang="en-US" dirty="0">
                <a:solidFill>
                  <a:srgbClr val="4D4D4D"/>
                </a:solidFill>
                <a:latin typeface="メイリオ"/>
                <a:ea typeface="メイリオ"/>
              </a:rPr>
              <a:t>惑星大気の変動</a:t>
            </a:r>
            <a:endParaRPr lang="en-US" altLang="ja-JP" dirty="0">
              <a:solidFill>
                <a:srgbClr val="4D4D4D"/>
              </a:solidFill>
              <a:latin typeface="メイリオ"/>
              <a:ea typeface="メイリオ"/>
            </a:endParaRPr>
          </a:p>
        </p:txBody>
      </p:sp>
      <p:pic>
        <p:nvPicPr>
          <p:cNvPr id="3074" name="Picture 2" descr="Mandrill">
            <a:extLst>
              <a:ext uri="{FF2B5EF4-FFF2-40B4-BE49-F238E27FC236}">
                <a16:creationId xmlns:a16="http://schemas.microsoft.com/office/drawing/2014/main" id="{E850D559-FB40-4CD7-A593-28EEB2275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472" y="2564904"/>
            <a:ext cx="1531896" cy="153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4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78713A-E0F8-48E4-A351-E6C82C5A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学べること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A7B93E-194A-43BE-A946-3701D2B7C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965"/>
            <a:ext cx="5545832" cy="4809542"/>
          </a:xfrm>
        </p:spPr>
        <p:txBody>
          <a:bodyPr>
            <a:normAutofit fontScale="92500"/>
          </a:bodyPr>
          <a:lstStyle/>
          <a:p>
            <a:r>
              <a:rPr lang="ja-JP" altLang="en-US" sz="3200" dirty="0"/>
              <a:t>数値解析の基礎</a:t>
            </a:r>
            <a:endParaRPr lang="en-US" altLang="ja-JP" sz="3200" dirty="0"/>
          </a:p>
          <a:p>
            <a:pPr lvl="1"/>
            <a:r>
              <a:rPr lang="ja-JP" altLang="en-US" sz="2800" dirty="0"/>
              <a:t>誤差の評価</a:t>
            </a:r>
            <a:r>
              <a:rPr lang="en-US" altLang="ja-JP" sz="2800" dirty="0"/>
              <a:t>,</a:t>
            </a:r>
            <a:r>
              <a:rPr lang="ja-JP" altLang="en-US" sz="2800" dirty="0"/>
              <a:t> 条件数</a:t>
            </a:r>
            <a:r>
              <a:rPr lang="en-US" altLang="ja-JP" sz="2800" dirty="0"/>
              <a:t>, </a:t>
            </a:r>
            <a:r>
              <a:rPr lang="ja-JP" altLang="en-US" sz="2800" dirty="0"/>
              <a:t>桁落ち</a:t>
            </a:r>
            <a:endParaRPr lang="en-US" altLang="ja-JP" sz="2800" dirty="0"/>
          </a:p>
          <a:p>
            <a:r>
              <a:rPr lang="en-US" altLang="ja-JP" sz="3200" dirty="0"/>
              <a:t>Python</a:t>
            </a:r>
            <a:r>
              <a:rPr lang="ja-JP" altLang="en-US" sz="3200" dirty="0"/>
              <a:t>による信号処理の基礎</a:t>
            </a:r>
            <a:endParaRPr lang="en-US" altLang="ja-JP" sz="3200" dirty="0"/>
          </a:p>
          <a:p>
            <a:r>
              <a:rPr lang="ja-JP" altLang="en-US" sz="3200" dirty="0"/>
              <a:t>フーリエ変換</a:t>
            </a:r>
            <a:endParaRPr lang="en-US" altLang="ja-JP" sz="3200" dirty="0"/>
          </a:p>
          <a:p>
            <a:pPr lvl="1"/>
            <a:r>
              <a:rPr lang="ja-JP" altLang="en-US" sz="2800" dirty="0"/>
              <a:t>連続</a:t>
            </a:r>
            <a:r>
              <a:rPr lang="en-US" altLang="ja-JP" sz="2800" dirty="0"/>
              <a:t>/</a:t>
            </a:r>
            <a:r>
              <a:rPr lang="ja-JP" altLang="en-US" sz="2800" dirty="0"/>
              <a:t>離散時間フーリエ変換</a:t>
            </a:r>
            <a:endParaRPr lang="en-US" altLang="ja-JP" sz="2800" dirty="0"/>
          </a:p>
          <a:p>
            <a:pPr lvl="1"/>
            <a:r>
              <a:rPr lang="ja-JP" altLang="en-US" sz="2800" dirty="0"/>
              <a:t>サンプリング定理</a:t>
            </a:r>
            <a:endParaRPr lang="en-US" altLang="ja-JP" sz="2800" dirty="0"/>
          </a:p>
          <a:p>
            <a:r>
              <a:rPr lang="en-US" altLang="ja-JP" sz="3200" dirty="0"/>
              <a:t>LTI</a:t>
            </a:r>
            <a:r>
              <a:rPr lang="ja-JP" altLang="en-US" sz="3200" dirty="0"/>
              <a:t>システム</a:t>
            </a:r>
            <a:br>
              <a:rPr lang="en-US" altLang="ja-JP" sz="3200" dirty="0"/>
            </a:br>
            <a:r>
              <a:rPr lang="en-US" altLang="ja-JP" sz="3200" dirty="0"/>
              <a:t>(Linear Time-Invariant)</a:t>
            </a:r>
          </a:p>
          <a:p>
            <a:pPr lvl="1"/>
            <a:r>
              <a:rPr lang="ja-JP" altLang="en-US" sz="2800" dirty="0"/>
              <a:t>線形性、時不変性、因果性</a:t>
            </a:r>
            <a:endParaRPr lang="en-US" altLang="ja-JP" sz="2800" dirty="0"/>
          </a:p>
          <a:p>
            <a:pPr lvl="1"/>
            <a:r>
              <a:rPr lang="ja-JP" altLang="en-US" sz="2800" dirty="0"/>
              <a:t>インパルス応答と周波数応答</a:t>
            </a:r>
          </a:p>
          <a:p>
            <a:endParaRPr lang="ja-JP" altLang="en-US" sz="28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C75E17-CE1E-469C-B1AD-3D5EA8DF3A6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28048" y="1771965"/>
            <a:ext cx="5324475" cy="4564062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フィルタの設計</a:t>
            </a:r>
            <a:endParaRPr lang="en-US" altLang="ja-JP" sz="3200" dirty="0"/>
          </a:p>
          <a:p>
            <a:pPr lvl="1"/>
            <a:r>
              <a:rPr lang="en-US" altLang="ja-JP" sz="2800" dirty="0"/>
              <a:t>FIR</a:t>
            </a:r>
            <a:r>
              <a:rPr lang="ja-JP" altLang="en-US" sz="2800" dirty="0"/>
              <a:t>フィルタ（</a:t>
            </a:r>
            <a:r>
              <a:rPr lang="en-US" altLang="ja-JP" sz="2800" dirty="0"/>
              <a:t>LPF, HPF, etc.</a:t>
            </a:r>
            <a:r>
              <a:rPr lang="ja-JP" altLang="en-US" sz="2800" dirty="0"/>
              <a:t>）</a:t>
            </a:r>
            <a:endParaRPr lang="en-US" altLang="ja-JP" sz="2800" dirty="0"/>
          </a:p>
          <a:p>
            <a:pPr lvl="1"/>
            <a:r>
              <a:rPr lang="en-US" altLang="ja-JP" sz="2800" dirty="0"/>
              <a:t>Parseval</a:t>
            </a:r>
            <a:r>
              <a:rPr lang="ja-JP" altLang="en-US" sz="2800" dirty="0"/>
              <a:t>の等式</a:t>
            </a:r>
            <a:endParaRPr lang="en-US" altLang="ja-JP" sz="2800" dirty="0"/>
          </a:p>
          <a:p>
            <a:r>
              <a:rPr lang="ja-JP" altLang="en-US" sz="3200" dirty="0"/>
              <a:t>統計的信号処理</a:t>
            </a:r>
            <a:endParaRPr lang="en-US" altLang="ja-JP" sz="3200" dirty="0"/>
          </a:p>
          <a:p>
            <a:pPr lvl="1"/>
            <a:r>
              <a:rPr lang="ja-JP" altLang="en-US" sz="2800" dirty="0"/>
              <a:t>主成分分析</a:t>
            </a:r>
            <a:endParaRPr lang="en-US" altLang="ja-JP" sz="2800" dirty="0"/>
          </a:p>
          <a:p>
            <a:pPr lvl="1"/>
            <a:r>
              <a:rPr lang="ja-JP" altLang="en-US" sz="2800" dirty="0"/>
              <a:t>独立成分分析</a:t>
            </a:r>
            <a:endParaRPr lang="en-US" altLang="ja-JP" sz="2800" dirty="0"/>
          </a:p>
          <a:p>
            <a:pPr lvl="1"/>
            <a:r>
              <a:rPr lang="ja-JP" altLang="en-US" sz="2800" dirty="0"/>
              <a:t>非ガウス性</a:t>
            </a:r>
            <a:endParaRPr lang="en-US" altLang="ja-JP" sz="2800" dirty="0"/>
          </a:p>
          <a:p>
            <a:pPr lvl="1"/>
            <a:r>
              <a:rPr lang="ja-JP" altLang="en-US" sz="2800" dirty="0"/>
              <a:t>カートシス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6349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">
      <a:majorFont>
        <a:latin typeface="Noto Sans CJK JP Medium"/>
        <a:ea typeface="Noto Sans CJK JP Medium"/>
        <a:cs typeface=""/>
      </a:majorFont>
      <a:minorFont>
        <a:latin typeface="Noto Sans CJK JP Regular"/>
        <a:ea typeface="Noto Sans CJK JP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ハプティクス特論_鈴木.pptx" id="{81DA2433-0E0F-482F-9974-4ADA8C8F4474}" vid="{0105A30C-5CAC-42B0-9A94-B0519E21E68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46918</TotalTime>
  <Words>293</Words>
  <Application>Microsoft Office PowerPoint</Application>
  <PresentationFormat>ワイド画面</PresentationFormat>
  <Paragraphs>59</Paragraphs>
  <Slides>6</Slides>
  <Notes>1</Notes>
  <HiddenSlides>0</HiddenSlides>
  <MMClips>9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Meiryo UI</vt:lpstr>
      <vt:lpstr>Noto Sans CJK JP Medium</vt:lpstr>
      <vt:lpstr>Noto Sans CJK JP Regular</vt:lpstr>
      <vt:lpstr>メイリオ</vt:lpstr>
      <vt:lpstr>Arial</vt:lpstr>
      <vt:lpstr>Calibri</vt:lpstr>
      <vt:lpstr>Office テーマ</vt:lpstr>
      <vt:lpstr>複雑理工学実験概論2023 ガイダンス 計測コース 生体計測G (篠田・牧野)</vt:lpstr>
      <vt:lpstr>概要</vt:lpstr>
      <vt:lpstr>何ができるようになるか (1)</vt:lpstr>
      <vt:lpstr>何ができるようになるか (2)</vt:lpstr>
      <vt:lpstr>どの分野にも使える手法</vt:lpstr>
      <vt:lpstr>学べること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ミーティング資料:12ページ (2011/11/1)</dc:title>
  <dc:creator>t2ladmin</dc:creator>
  <cp:lastModifiedBy>鈴木　颯</cp:lastModifiedBy>
  <cp:revision>1707</cp:revision>
  <cp:lastPrinted>2018-05-29T03:13:17Z</cp:lastPrinted>
  <dcterms:created xsi:type="dcterms:W3CDTF">2011-10-17T06:38:51Z</dcterms:created>
  <dcterms:modified xsi:type="dcterms:W3CDTF">2023-04-07T02:06:51Z</dcterms:modified>
</cp:coreProperties>
</file>